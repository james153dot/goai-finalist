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My project asks a simple question: when CFD evaluations are expensive, can adaptive AI exploration find scientifically important rare regimes more efficiently than conventional space-filling sampling?</a:t>
            </a:r>
            <a:endParaRPr/>
          </a:p>
          <a:p>
            <a:pPr indent="0" lvl="0" marL="0" rtl="0" algn="l">
              <a:lnSpc>
                <a:spcPct val="115000"/>
              </a:lnSpc>
              <a:spcBef>
                <a:spcPts val="1200"/>
              </a:spcBef>
              <a:spcAft>
                <a:spcPts val="0"/>
              </a:spcAft>
              <a:buClr>
                <a:schemeClr val="dk1"/>
              </a:buClr>
              <a:buSzPts val="1100"/>
              <a:buFont typeface="Arial"/>
              <a:buNone/>
            </a:pPr>
            <a:r>
              <a:rPr lang="en"/>
              <a:t>I study this using combustion-stability-window exploration. The goal is to build a controlled, inspectable environment where OpenFOAM provides mixing physics, and an AI agent decides which simulations to run next.</a:t>
            </a:r>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a26b1e1d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fa26b1e1d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workflow is: choose a five-dimensional design vector, run an OpenFOAM mixing simulation, extract mixing quantities, convert them into a Rayleigh-inspired stability indicator, and classify the point as stable or unstable.</a:t>
            </a:r>
            <a:endParaRPr/>
          </a:p>
          <a:p>
            <a:pPr indent="0" lvl="0" marL="0" rtl="0" algn="l">
              <a:lnSpc>
                <a:spcPct val="115000"/>
              </a:lnSpc>
              <a:spcBef>
                <a:spcPts val="1200"/>
              </a:spcBef>
              <a:spcAft>
                <a:spcPts val="0"/>
              </a:spcAft>
              <a:buClr>
                <a:schemeClr val="dk1"/>
              </a:buClr>
              <a:buSzPts val="1100"/>
              <a:buFont typeface="Arial"/>
              <a:buNone/>
            </a:pPr>
            <a:r>
              <a:rPr lang="en"/>
              <a:t>The five explored variables are pattern class, orifice-size spread, impingement, swirl analog, and operating-condition analog. The AI</a:t>
            </a:r>
            <a:r>
              <a:rPr lang="en"/>
              <a:t> does not see the full surface. It only</a:t>
            </a:r>
            <a:r>
              <a:rPr lang="en"/>
              <a:t> receives one result at a time.</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a26b1e1d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a26b1e1d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environment is fixed: same chamber, same CFD model, same acoustic analog, and the same σanalog=0\sigma_{\text{analog}}=0 threshold.</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a26b1e1d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a26b1e1d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The AI begins with Latin-hypercube initial samples, so it does not get an unfair starting advantage. After that, it fits a Gaussian-process model to σ\sigma. If it has only seen one regime, it searches for the missing regime. Once it has seen both stable and unstable cases, it targets the boundary near σ=0\sigma=0.</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a26b1e1d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a26b1e1d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main result is rare-regime recovery.</a:t>
            </a:r>
            <a:endParaRPr/>
          </a:p>
          <a:p>
            <a:pPr indent="0" lvl="0" marL="0" rtl="0" algn="l">
              <a:lnSpc>
                <a:spcPct val="115000"/>
              </a:lnSpc>
              <a:spcBef>
                <a:spcPts val="1200"/>
              </a:spcBef>
              <a:spcAft>
                <a:spcPts val="0"/>
              </a:spcAft>
              <a:buClr>
                <a:schemeClr val="dk1"/>
              </a:buClr>
              <a:buSzPts val="1100"/>
              <a:buFont typeface="Arial"/>
              <a:buNone/>
            </a:pPr>
            <a:r>
              <a:rPr lang="en"/>
              <a:t>Across eight matched live OpenFOAM campaigns, adaptive exploration achieved mean unstable recall of 0.68, compared with 0.33 for Latin hypercube. It found more unstable cases in seven of eight seeds.</a:t>
            </a:r>
            <a:endParaRPr/>
          </a:p>
          <a:p>
            <a:pPr indent="0" lvl="0" marL="0" rtl="0" algn="l">
              <a:lnSpc>
                <a:spcPct val="115000"/>
              </a:lnSpc>
              <a:spcBef>
                <a:spcPts val="1200"/>
              </a:spcBef>
              <a:spcAft>
                <a:spcPts val="0"/>
              </a:spcAft>
              <a:buClr>
                <a:schemeClr val="dk1"/>
              </a:buClr>
              <a:buSzPts val="1100"/>
              <a:buFont typeface="Arial"/>
              <a:buNone/>
            </a:pPr>
            <a:r>
              <a:rPr lang="en"/>
              <a:t>This is not a claim that AI wins every metric. Precision is essentially tied, near-boundary error is tied, and I kept the reversal seed where Latin hypercube does better.</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a26b1e1d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a26b1e1d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A</a:t>
            </a:r>
            <a:r>
              <a:rPr lang="en"/>
              <a:t> scientific story that arose from this is seed 14.</a:t>
            </a:r>
            <a:endParaRPr/>
          </a:p>
          <a:p>
            <a:pPr indent="0" lvl="0" marL="0" rtl="0" algn="l">
              <a:lnSpc>
                <a:spcPct val="115000"/>
              </a:lnSpc>
              <a:spcBef>
                <a:spcPts val="1200"/>
              </a:spcBef>
              <a:spcAft>
                <a:spcPts val="0"/>
              </a:spcAft>
              <a:buClr>
                <a:schemeClr val="dk1"/>
              </a:buClr>
              <a:buSzPts val="1100"/>
              <a:buFont typeface="Arial"/>
              <a:buNone/>
            </a:pPr>
            <a:r>
              <a:rPr lang="en"/>
              <a:t>In that campaign, the AI independently found unstable designs at both low and high values of the pattern-class variable gg. Because other coordinates changed too, this did not prove causality. Instead, it suggested a follow-up question: is the response nonmonotonic in g?</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a26b1e1d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a26b1e1d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a26b1e1d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a26b1e1d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I then ran a controlled sweep where g changed while the other variables were fixed. That sweep showed an unstable low-gg region, a stable middle region, and another unstable interval at higher 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a26b1e1d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a26b1e1d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So the conclusion is two-part.</a:t>
            </a:r>
            <a:endParaRPr/>
          </a:p>
          <a:p>
            <a:pPr indent="0" lvl="0" marL="0" rtl="0" algn="l">
              <a:lnSpc>
                <a:spcPct val="115000"/>
              </a:lnSpc>
              <a:spcBef>
                <a:spcPts val="1200"/>
              </a:spcBef>
              <a:spcAft>
                <a:spcPts val="0"/>
              </a:spcAft>
              <a:buClr>
                <a:schemeClr val="dk1"/>
              </a:buClr>
              <a:buSzPts val="1100"/>
              <a:buFont typeface="Arial"/>
              <a:buNone/>
            </a:pPr>
            <a:r>
              <a:rPr lang="en"/>
              <a:t>Methodologically, adaptive exploration uses the same small CFD budget more effectively to recover the rare unstable regime.</a:t>
            </a:r>
            <a:endParaRPr/>
          </a:p>
          <a:p>
            <a:pPr indent="0" lvl="0" marL="0" rtl="0" algn="l">
              <a:lnSpc>
                <a:spcPct val="115000"/>
              </a:lnSpc>
              <a:spcBef>
                <a:spcPts val="1200"/>
              </a:spcBef>
              <a:spcAft>
                <a:spcPts val="0"/>
              </a:spcAft>
              <a:buClr>
                <a:schemeClr val="dk1"/>
              </a:buClr>
              <a:buSzPts val="1100"/>
              <a:buFont typeface="Arial"/>
              <a:buNone/>
            </a:pPr>
            <a:r>
              <a:rPr lang="en"/>
              <a:t>Scientifically, it turns unexpected observations into targeted follow-up experiments. In this case, that follow-up revealed nonmonotonic structure in the declared stability analog.</a:t>
            </a:r>
            <a:endParaRPr/>
          </a:p>
          <a:p>
            <a:pPr indent="0" lvl="0" marL="0" rtl="0" algn="l">
              <a:lnSpc>
                <a:spcPct val="115000"/>
              </a:lnSpc>
              <a:spcBef>
                <a:spcPts val="1200"/>
              </a:spcBef>
              <a:spcAft>
                <a:spcPts val="0"/>
              </a:spcAft>
              <a:buClr>
                <a:schemeClr val="dk1"/>
              </a:buClr>
              <a:buSzPts val="1100"/>
              <a:buFont typeface="Arial"/>
              <a:buNone/>
            </a:pPr>
            <a:r>
              <a:rPr lang="en"/>
              <a:t>Again, the claim is bounded: this is a CFD-informed Rayleigh analog, not a flight-engine stability prediction.</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a26b1e1d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a26b1e1d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53" name="Shape 53"/>
        <p:cNvGrpSpPr/>
        <p:nvPr/>
      </p:nvGrpSpPr>
      <p:grpSpPr>
        <a:xfrm>
          <a:off x="0" y="0"/>
          <a:ext cx="0" cy="0"/>
          <a:chOff x="0" y="0"/>
          <a:chExt cx="0" cy="0"/>
        </a:xfrm>
      </p:grpSpPr>
      <p:grpSp>
        <p:nvGrpSpPr>
          <p:cNvPr id="54" name="Google Shape;54;p13"/>
          <p:cNvGrpSpPr/>
          <p:nvPr/>
        </p:nvGrpSpPr>
        <p:grpSpPr>
          <a:xfrm>
            <a:off x="0" y="-51125"/>
            <a:ext cx="9144000" cy="811800"/>
            <a:chOff x="0" y="-51125"/>
            <a:chExt cx="9144000" cy="811800"/>
          </a:xfrm>
        </p:grpSpPr>
        <p:sp>
          <p:nvSpPr>
            <p:cNvPr id="55" name="Google Shape;55;p13"/>
            <p:cNvSpPr/>
            <p:nvPr/>
          </p:nvSpPr>
          <p:spPr>
            <a:xfrm>
              <a:off x="0" y="-51125"/>
              <a:ext cx="9144000" cy="81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 name="Google Shape;56;p13" title="image-removebg-preview (5).png"/>
            <p:cNvPicPr preferRelativeResize="0"/>
            <p:nvPr/>
          </p:nvPicPr>
          <p:blipFill>
            <a:blip r:embed="rId3">
              <a:alphaModFix/>
            </a:blip>
            <a:stretch>
              <a:fillRect/>
            </a:stretch>
          </p:blipFill>
          <p:spPr>
            <a:xfrm>
              <a:off x="0" y="-51125"/>
              <a:ext cx="2475693" cy="811800"/>
            </a:xfrm>
            <a:prstGeom prst="rect">
              <a:avLst/>
            </a:prstGeom>
            <a:noFill/>
            <a:ln>
              <a:noFill/>
            </a:ln>
          </p:spPr>
        </p:pic>
      </p:grpSp>
      <p:sp>
        <p:nvSpPr>
          <p:cNvPr id="57" name="Google Shape;57;p13"/>
          <p:cNvSpPr txBox="1"/>
          <p:nvPr/>
        </p:nvSpPr>
        <p:spPr>
          <a:xfrm>
            <a:off x="768000" y="1191275"/>
            <a:ext cx="7608000" cy="13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300">
                <a:solidFill>
                  <a:schemeClr val="lt1"/>
                </a:solidFill>
              </a:rPr>
              <a:t>AI-Guided Discovery of Combustion-Stability Windows</a:t>
            </a:r>
            <a:r>
              <a:rPr lang="en" sz="200">
                <a:solidFill>
                  <a:schemeClr val="lt1"/>
                </a:solidFill>
              </a:rPr>
              <a:t> </a:t>
            </a:r>
            <a:endParaRPr sz="700">
              <a:solidFill>
                <a:schemeClr val="lt1"/>
              </a:solidFill>
            </a:endParaRPr>
          </a:p>
        </p:txBody>
      </p:sp>
      <p:sp>
        <p:nvSpPr>
          <p:cNvPr id="58" name="Google Shape;58;p13"/>
          <p:cNvSpPr txBox="1"/>
          <p:nvPr/>
        </p:nvSpPr>
        <p:spPr>
          <a:xfrm>
            <a:off x="2815950" y="3549425"/>
            <a:ext cx="3512100" cy="9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lt1"/>
                </a:solidFill>
              </a:rPr>
              <a:t>James Lu - Harvard University</a:t>
            </a:r>
            <a:endParaRPr sz="1100">
              <a:solidFill>
                <a:schemeClr val="lt1"/>
              </a:solidFill>
            </a:endParaRPr>
          </a:p>
          <a:p>
            <a:pPr indent="0" lvl="0" marL="0" rtl="0" algn="ctr">
              <a:spcBef>
                <a:spcPts val="0"/>
              </a:spcBef>
              <a:spcAft>
                <a:spcPts val="0"/>
              </a:spcAft>
              <a:buNone/>
            </a:pPr>
            <a:r>
              <a:rPr lang="en" sz="1100">
                <a:solidFill>
                  <a:schemeClr val="lt1"/>
                </a:solidFill>
              </a:rPr>
              <a:t>Open Exploration Problems</a:t>
            </a:r>
            <a:endParaRPr sz="1100">
              <a:solidFill>
                <a:schemeClr val="lt1"/>
              </a:solidFill>
            </a:endParaRPr>
          </a:p>
          <a:p>
            <a:pPr indent="0" lvl="0" marL="0" rtl="0" algn="ctr">
              <a:spcBef>
                <a:spcPts val="0"/>
              </a:spcBef>
              <a:spcAft>
                <a:spcPts val="0"/>
              </a:spcAft>
              <a:buNone/>
            </a:pPr>
            <a:r>
              <a:rPr lang="en" sz="1100">
                <a:solidFill>
                  <a:schemeClr val="lt1"/>
                </a:solidFill>
              </a:rPr>
              <a:t>GOAI Seminalist Defense</a:t>
            </a:r>
            <a:endParaRPr sz="1100">
              <a:solidFill>
                <a:schemeClr val="lt1"/>
              </a:solidFill>
            </a:endParaRPr>
          </a:p>
        </p:txBody>
      </p:sp>
      <p:sp>
        <p:nvSpPr>
          <p:cNvPr id="59" name="Google Shape;59;p13"/>
          <p:cNvSpPr txBox="1"/>
          <p:nvPr/>
        </p:nvSpPr>
        <p:spPr>
          <a:xfrm>
            <a:off x="1395450" y="2671850"/>
            <a:ext cx="6353100" cy="777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 sz="2000">
                <a:solidFill>
                  <a:schemeClr val="lt1"/>
                </a:solidFill>
              </a:rPr>
              <a:t>Can adaptive exploration find rare unstable regimes with fewer expensive CFD evaluations?</a:t>
            </a:r>
            <a:endParaRPr b="1"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63" name="Shape 63"/>
        <p:cNvGrpSpPr/>
        <p:nvPr/>
      </p:nvGrpSpPr>
      <p:grpSpPr>
        <a:xfrm>
          <a:off x="0" y="0"/>
          <a:ext cx="0" cy="0"/>
          <a:chOff x="0" y="0"/>
          <a:chExt cx="0" cy="0"/>
        </a:xfrm>
      </p:grpSpPr>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65" name="Google Shape;65;p14"/>
          <p:cNvPicPr preferRelativeResize="0"/>
          <p:nvPr/>
        </p:nvPicPr>
        <p:blipFill>
          <a:blip r:embed="rId3">
            <a:alphaModFix/>
          </a:blip>
          <a:stretch>
            <a:fillRect/>
          </a:stretch>
        </p:blipFill>
        <p:spPr>
          <a:xfrm>
            <a:off x="653825" y="849725"/>
            <a:ext cx="3203275" cy="3947076"/>
          </a:xfrm>
          <a:prstGeom prst="rect">
            <a:avLst/>
          </a:prstGeom>
          <a:noFill/>
          <a:ln cap="flat" cmpd="sng" w="19050">
            <a:solidFill>
              <a:schemeClr val="lt1"/>
            </a:solidFill>
            <a:prstDash val="solid"/>
            <a:round/>
            <a:headEnd len="sm" w="sm" type="none"/>
            <a:tailEnd len="sm" w="sm" type="none"/>
          </a:ln>
        </p:spPr>
      </p:pic>
      <p:pic>
        <p:nvPicPr>
          <p:cNvPr id="66" name="Google Shape;66;p14"/>
          <p:cNvPicPr preferRelativeResize="0"/>
          <p:nvPr/>
        </p:nvPicPr>
        <p:blipFill>
          <a:blip r:embed="rId4">
            <a:alphaModFix/>
          </a:blip>
          <a:stretch>
            <a:fillRect/>
          </a:stretch>
        </p:blipFill>
        <p:spPr>
          <a:xfrm>
            <a:off x="4906475" y="849725"/>
            <a:ext cx="3565975" cy="2569725"/>
          </a:xfrm>
          <a:prstGeom prst="rect">
            <a:avLst/>
          </a:prstGeom>
          <a:noFill/>
          <a:ln cap="flat" cmpd="sng" w="19050">
            <a:solidFill>
              <a:schemeClr val="lt1"/>
            </a:solidFill>
            <a:prstDash val="solid"/>
            <a:round/>
            <a:headEnd len="sm" w="sm" type="none"/>
            <a:tailEnd len="sm" w="sm" type="none"/>
          </a:ln>
        </p:spPr>
      </p:pic>
      <p:sp>
        <p:nvSpPr>
          <p:cNvPr id="67" name="Google Shape;67;p14"/>
          <p:cNvSpPr txBox="1"/>
          <p:nvPr/>
        </p:nvSpPr>
        <p:spPr>
          <a:xfrm>
            <a:off x="653825" y="147250"/>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rPr>
              <a:t>WORKFLOW</a:t>
            </a:r>
            <a:endParaRPr b="1" sz="28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71" name="Shape 71"/>
        <p:cNvGrpSpPr/>
        <p:nvPr/>
      </p:nvGrpSpPr>
      <p:grpSpPr>
        <a:xfrm>
          <a:off x="0" y="0"/>
          <a:ext cx="0" cy="0"/>
          <a:chOff x="0" y="0"/>
          <a:chExt cx="0" cy="0"/>
        </a:xfrm>
      </p:grpSpPr>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73" name="Google Shape;73;p15"/>
          <p:cNvPicPr preferRelativeResize="0"/>
          <p:nvPr/>
        </p:nvPicPr>
        <p:blipFill>
          <a:blip r:embed="rId3">
            <a:alphaModFix/>
          </a:blip>
          <a:stretch>
            <a:fillRect/>
          </a:stretch>
        </p:blipFill>
        <p:spPr>
          <a:xfrm>
            <a:off x="1649672" y="1156672"/>
            <a:ext cx="5844675" cy="1834875"/>
          </a:xfrm>
          <a:prstGeom prst="rect">
            <a:avLst/>
          </a:prstGeom>
          <a:noFill/>
          <a:ln cap="flat" cmpd="sng" w="19050">
            <a:solidFill>
              <a:schemeClr val="lt1"/>
            </a:solidFill>
            <a:prstDash val="solid"/>
            <a:round/>
            <a:headEnd len="sm" w="sm" type="none"/>
            <a:tailEnd len="sm" w="sm" type="none"/>
          </a:ln>
        </p:spPr>
      </p:pic>
      <p:sp>
        <p:nvSpPr>
          <p:cNvPr id="74" name="Google Shape;74;p15"/>
          <p:cNvSpPr txBox="1"/>
          <p:nvPr/>
        </p:nvSpPr>
        <p:spPr>
          <a:xfrm>
            <a:off x="653825" y="147250"/>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rPr>
              <a:t>EXPLORATION ENVIRONMENT</a:t>
            </a:r>
            <a:endParaRPr b="1" sz="28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78" name="Shape 78"/>
        <p:cNvGrpSpPr/>
        <p:nvPr/>
      </p:nvGrpSpPr>
      <p:grpSpPr>
        <a:xfrm>
          <a:off x="0" y="0"/>
          <a:ext cx="0" cy="0"/>
          <a:chOff x="0" y="0"/>
          <a:chExt cx="0" cy="0"/>
        </a:xfrm>
      </p:grpSpPr>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pic>
        <p:nvPicPr>
          <p:cNvPr id="80" name="Google Shape;80;p16"/>
          <p:cNvPicPr preferRelativeResize="0"/>
          <p:nvPr/>
        </p:nvPicPr>
        <p:blipFill>
          <a:blip r:embed="rId3">
            <a:alphaModFix/>
          </a:blip>
          <a:stretch>
            <a:fillRect/>
          </a:stretch>
        </p:blipFill>
        <p:spPr>
          <a:xfrm>
            <a:off x="2807163" y="893700"/>
            <a:ext cx="3529675" cy="3636251"/>
          </a:xfrm>
          <a:prstGeom prst="rect">
            <a:avLst/>
          </a:prstGeom>
          <a:noFill/>
          <a:ln cap="flat" cmpd="sng" w="19050">
            <a:solidFill>
              <a:schemeClr val="lt1"/>
            </a:solidFill>
            <a:prstDash val="solid"/>
            <a:round/>
            <a:headEnd len="sm" w="sm" type="none"/>
            <a:tailEnd len="sm" w="sm" type="none"/>
          </a:ln>
        </p:spPr>
      </p:pic>
      <p:sp>
        <p:nvSpPr>
          <p:cNvPr id="81" name="Google Shape;81;p16"/>
          <p:cNvSpPr txBox="1"/>
          <p:nvPr/>
        </p:nvSpPr>
        <p:spPr>
          <a:xfrm>
            <a:off x="653825" y="147250"/>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rPr>
              <a:t>AI LOGIC: HOW DOES AI CHOOSE?</a:t>
            </a:r>
            <a:endParaRPr b="1" sz="2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85" name="Shape 85"/>
        <p:cNvGrpSpPr/>
        <p:nvPr/>
      </p:nvGrpSpPr>
      <p:grpSpPr>
        <a:xfrm>
          <a:off x="0" y="0"/>
          <a:ext cx="0" cy="0"/>
          <a:chOff x="0" y="0"/>
          <a:chExt cx="0" cy="0"/>
        </a:xfrm>
      </p:grpSpPr>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87" name="Google Shape;87;p17"/>
          <p:cNvSpPr txBox="1"/>
          <p:nvPr/>
        </p:nvSpPr>
        <p:spPr>
          <a:xfrm>
            <a:off x="653825" y="147250"/>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rPr>
              <a:t>PRIMARY LIVE-CFD RESULT</a:t>
            </a:r>
            <a:endParaRPr b="1" sz="2800">
              <a:solidFill>
                <a:schemeClr val="lt1"/>
              </a:solidFill>
            </a:endParaRPr>
          </a:p>
        </p:txBody>
      </p:sp>
      <p:pic>
        <p:nvPicPr>
          <p:cNvPr id="88" name="Google Shape;88;p17"/>
          <p:cNvPicPr preferRelativeResize="0"/>
          <p:nvPr/>
        </p:nvPicPr>
        <p:blipFill>
          <a:blip r:embed="rId3">
            <a:alphaModFix/>
          </a:blip>
          <a:stretch>
            <a:fillRect/>
          </a:stretch>
        </p:blipFill>
        <p:spPr>
          <a:xfrm>
            <a:off x="993212" y="856314"/>
            <a:ext cx="7139838" cy="2467163"/>
          </a:xfrm>
          <a:prstGeom prst="rect">
            <a:avLst/>
          </a:prstGeom>
          <a:noFill/>
          <a:ln cap="flat" cmpd="sng" w="19050">
            <a:solidFill>
              <a:schemeClr val="lt1"/>
            </a:solidFill>
            <a:prstDash val="solid"/>
            <a:round/>
            <a:headEnd len="sm" w="sm" type="none"/>
            <a:tailEnd len="sm" w="sm" type="none"/>
          </a:ln>
        </p:spPr>
      </p:pic>
      <p:sp>
        <p:nvSpPr>
          <p:cNvPr id="89" name="Google Shape;89;p17"/>
          <p:cNvSpPr txBox="1"/>
          <p:nvPr/>
        </p:nvSpPr>
        <p:spPr>
          <a:xfrm>
            <a:off x="662700" y="3480250"/>
            <a:ext cx="7818600" cy="1317300"/>
          </a:xfrm>
          <a:prstGeom prst="rect">
            <a:avLst/>
          </a:prstGeom>
          <a:noFill/>
          <a:ln>
            <a:noFill/>
          </a:ln>
        </p:spPr>
        <p:txBody>
          <a:bodyPr anchorCtr="0" anchor="t" bIns="91425" lIns="91425" spcFirstLastPara="1" rIns="91425" wrap="square" tIns="91425">
            <a:noAutofit/>
          </a:bodyPr>
          <a:lstStyle/>
          <a:p>
            <a:pPr indent="0" lvl="0" marL="0" rtl="0" algn="ctr">
              <a:lnSpc>
                <a:spcPct val="75000"/>
              </a:lnSpc>
              <a:spcBef>
                <a:spcPts val="0"/>
              </a:spcBef>
              <a:spcAft>
                <a:spcPts val="0"/>
              </a:spcAft>
              <a:buClr>
                <a:schemeClr val="dk1"/>
              </a:buClr>
              <a:buSzPts val="1100"/>
              <a:buFont typeface="Arial"/>
              <a:buNone/>
            </a:pPr>
            <a:r>
              <a:rPr b="1" lang="en" sz="1900">
                <a:solidFill>
                  <a:schemeClr val="lt1"/>
                </a:solidFill>
              </a:rPr>
              <a:t>Adaptive exploration recovered the rare unstable</a:t>
            </a:r>
            <a:endParaRPr b="1" sz="1900">
              <a:solidFill>
                <a:schemeClr val="lt1"/>
              </a:solidFill>
            </a:endParaRPr>
          </a:p>
          <a:p>
            <a:pPr indent="0" lvl="0" marL="0" rtl="0" algn="ctr">
              <a:lnSpc>
                <a:spcPct val="75000"/>
              </a:lnSpc>
              <a:spcBef>
                <a:spcPts val="0"/>
              </a:spcBef>
              <a:spcAft>
                <a:spcPts val="0"/>
              </a:spcAft>
              <a:buNone/>
            </a:pPr>
            <a:r>
              <a:rPr b="1" lang="en" sz="1900">
                <a:solidFill>
                  <a:schemeClr val="lt1"/>
                </a:solidFill>
              </a:rPr>
              <a:t>regime more effectively.</a:t>
            </a:r>
            <a:endParaRPr b="1" sz="1900">
              <a:solidFill>
                <a:schemeClr val="lt1"/>
              </a:solidFill>
            </a:endParaRPr>
          </a:p>
          <a:p>
            <a:pPr indent="0" lvl="0" marL="0" rtl="0" algn="ctr">
              <a:lnSpc>
                <a:spcPct val="75000"/>
              </a:lnSpc>
              <a:spcBef>
                <a:spcPts val="0"/>
              </a:spcBef>
              <a:spcAft>
                <a:spcPts val="0"/>
              </a:spcAft>
              <a:buNone/>
            </a:pPr>
            <a:r>
              <a:t/>
            </a:r>
            <a:endParaRPr sz="1900">
              <a:solidFill>
                <a:schemeClr val="lt1"/>
              </a:solidFill>
            </a:endParaRPr>
          </a:p>
          <a:p>
            <a:pPr indent="0" lvl="0" marL="0" rtl="0" algn="ctr">
              <a:lnSpc>
                <a:spcPct val="75000"/>
              </a:lnSpc>
              <a:spcBef>
                <a:spcPts val="0"/>
              </a:spcBef>
              <a:spcAft>
                <a:spcPts val="0"/>
              </a:spcAft>
              <a:buNone/>
            </a:pPr>
            <a:r>
              <a:rPr lang="en" sz="1900">
                <a:solidFill>
                  <a:schemeClr val="lt1"/>
                </a:solidFill>
              </a:rPr>
              <a:t>AI had higher unstable recall, sampled more unstable conditions </a:t>
            </a:r>
            <a:endParaRPr sz="1900">
              <a:solidFill>
                <a:schemeClr val="lt1"/>
              </a:solidFill>
            </a:endParaRPr>
          </a:p>
          <a:p>
            <a:pPr indent="0" lvl="0" marL="0" rtl="0" algn="ctr">
              <a:lnSpc>
                <a:spcPct val="75000"/>
              </a:lnSpc>
              <a:spcBef>
                <a:spcPts val="0"/>
              </a:spcBef>
              <a:spcAft>
                <a:spcPts val="0"/>
              </a:spcAft>
              <a:buNone/>
            </a:pPr>
            <a:r>
              <a:rPr lang="en" sz="1900">
                <a:solidFill>
                  <a:schemeClr val="lt1"/>
                </a:solidFill>
              </a:rPr>
              <a:t>in 7 of 8 live OpenFOAM campaigns.</a:t>
            </a:r>
            <a:endParaRPr sz="1900">
              <a:solidFill>
                <a:schemeClr val="lt1"/>
              </a:solidFill>
            </a:endParaRPr>
          </a:p>
          <a:p>
            <a:pPr indent="0" lvl="0" marL="0" rtl="0" algn="l">
              <a:spcBef>
                <a:spcPts val="0"/>
              </a:spcBef>
              <a:spcAft>
                <a:spcPts val="0"/>
              </a:spcAft>
              <a:buNone/>
            </a:pPr>
            <a:r>
              <a:t/>
            </a:r>
            <a:endParaRPr sz="21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93" name="Shape 93"/>
        <p:cNvGrpSpPr/>
        <p:nvPr/>
      </p:nvGrpSpPr>
      <p:grpSpPr>
        <a:xfrm>
          <a:off x="0" y="0"/>
          <a:ext cx="0" cy="0"/>
          <a:chOff x="0" y="0"/>
          <a:chExt cx="0" cy="0"/>
        </a:xfrm>
      </p:grpSpPr>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95" name="Google Shape;95;p18"/>
          <p:cNvSpPr txBox="1"/>
          <p:nvPr/>
        </p:nvSpPr>
        <p:spPr>
          <a:xfrm>
            <a:off x="653825" y="147250"/>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rPr>
              <a:t>SCIENTIFIC DISCOVERY</a:t>
            </a:r>
            <a:endParaRPr b="1" sz="2800">
              <a:solidFill>
                <a:schemeClr val="lt1"/>
              </a:solidFill>
            </a:endParaRPr>
          </a:p>
        </p:txBody>
      </p:sp>
      <p:sp>
        <p:nvSpPr>
          <p:cNvPr id="96" name="Google Shape;96;p18"/>
          <p:cNvSpPr txBox="1"/>
          <p:nvPr/>
        </p:nvSpPr>
        <p:spPr>
          <a:xfrm>
            <a:off x="662700" y="3345925"/>
            <a:ext cx="7818600" cy="1621200"/>
          </a:xfrm>
          <a:prstGeom prst="rect">
            <a:avLst/>
          </a:prstGeom>
          <a:noFill/>
          <a:ln>
            <a:noFill/>
          </a:ln>
        </p:spPr>
        <p:txBody>
          <a:bodyPr anchorCtr="0" anchor="t" bIns="91425" lIns="91425" spcFirstLastPara="1" rIns="91425" wrap="square" tIns="91425">
            <a:noAutofit/>
          </a:bodyPr>
          <a:lstStyle/>
          <a:p>
            <a:pPr indent="0" lvl="0" marL="0" rtl="0" algn="l">
              <a:lnSpc>
                <a:spcPct val="75000"/>
              </a:lnSpc>
              <a:spcBef>
                <a:spcPts val="0"/>
              </a:spcBef>
              <a:spcAft>
                <a:spcPts val="0"/>
              </a:spcAft>
              <a:buNone/>
            </a:pPr>
            <a:r>
              <a:rPr lang="en" sz="1600">
                <a:solidFill>
                  <a:schemeClr val="lt1"/>
                </a:solidFill>
              </a:rPr>
              <a:t>In live seed 14, the adaptive campaign independently encountered unstable five-dimensional designs at both low and high values of the pattern-class variable </a:t>
            </a:r>
            <a:r>
              <a:rPr i="1" lang="en" sz="1600">
                <a:solidFill>
                  <a:schemeClr val="lt1"/>
                </a:solidFill>
              </a:rPr>
              <a:t>g</a:t>
            </a:r>
            <a:r>
              <a:rPr lang="en" sz="1600">
                <a:solidFill>
                  <a:schemeClr val="lt1"/>
                </a:solidFill>
              </a:rPr>
              <a:t>.</a:t>
            </a:r>
            <a:endParaRPr sz="1600">
              <a:solidFill>
                <a:schemeClr val="lt1"/>
              </a:solidFill>
            </a:endParaRPr>
          </a:p>
          <a:p>
            <a:pPr indent="0" lvl="0" marL="0" rtl="0" algn="l">
              <a:lnSpc>
                <a:spcPct val="75000"/>
              </a:lnSpc>
              <a:spcBef>
                <a:spcPts val="0"/>
              </a:spcBef>
              <a:spcAft>
                <a:spcPts val="0"/>
              </a:spcAft>
              <a:buClr>
                <a:schemeClr val="dk1"/>
              </a:buClr>
              <a:buSzPts val="1100"/>
              <a:buFont typeface="Arial"/>
              <a:buNone/>
            </a:pPr>
            <a:r>
              <a:t/>
            </a:r>
            <a:endParaRPr sz="1600">
              <a:solidFill>
                <a:schemeClr val="lt1"/>
              </a:solidFill>
            </a:endParaRPr>
          </a:p>
          <a:p>
            <a:pPr indent="0" lvl="0" marL="0" rtl="0" algn="l">
              <a:lnSpc>
                <a:spcPct val="75000"/>
              </a:lnSpc>
              <a:spcBef>
                <a:spcPts val="0"/>
              </a:spcBef>
              <a:spcAft>
                <a:spcPts val="0"/>
              </a:spcAft>
              <a:buClr>
                <a:schemeClr val="dk1"/>
              </a:buClr>
              <a:buSzPts val="1100"/>
              <a:buFont typeface="Arial"/>
              <a:buNone/>
            </a:pPr>
            <a:r>
              <a:rPr lang="en" sz="1600">
                <a:solidFill>
                  <a:schemeClr val="lt1"/>
                </a:solidFill>
              </a:rPr>
              <a:t>Because the other coordinates also differed, those observations did not prove that</a:t>
            </a:r>
            <a:endParaRPr sz="1600">
              <a:solidFill>
                <a:schemeClr val="lt1"/>
              </a:solidFill>
            </a:endParaRPr>
          </a:p>
          <a:p>
            <a:pPr indent="0" lvl="0" marL="0" rtl="0" algn="l">
              <a:lnSpc>
                <a:spcPct val="75000"/>
              </a:lnSpc>
              <a:spcBef>
                <a:spcPts val="0"/>
              </a:spcBef>
              <a:spcAft>
                <a:spcPts val="0"/>
              </a:spcAft>
              <a:buClr>
                <a:schemeClr val="dk1"/>
              </a:buClr>
              <a:buSzPts val="1100"/>
              <a:buFont typeface="Arial"/>
              <a:buNone/>
            </a:pPr>
            <a:r>
              <a:rPr i="1" lang="en" sz="1600">
                <a:solidFill>
                  <a:schemeClr val="lt1"/>
                </a:solidFill>
              </a:rPr>
              <a:t>g </a:t>
            </a:r>
            <a:r>
              <a:rPr lang="en" sz="1600">
                <a:solidFill>
                  <a:schemeClr val="lt1"/>
                </a:solidFill>
              </a:rPr>
              <a:t>itself caused the behavior. Instead, they suggested a testable hypothesis: is</a:t>
            </a:r>
            <a:endParaRPr sz="1600">
              <a:solidFill>
                <a:schemeClr val="lt1"/>
              </a:solidFill>
            </a:endParaRPr>
          </a:p>
          <a:p>
            <a:pPr indent="0" lvl="0" marL="0" rtl="0" algn="l">
              <a:lnSpc>
                <a:spcPct val="75000"/>
              </a:lnSpc>
              <a:spcBef>
                <a:spcPts val="0"/>
              </a:spcBef>
              <a:spcAft>
                <a:spcPts val="0"/>
              </a:spcAft>
              <a:buNone/>
            </a:pPr>
            <a:r>
              <a:rPr lang="en" sz="1600">
                <a:solidFill>
                  <a:schemeClr val="lt1"/>
                </a:solidFill>
              </a:rPr>
              <a:t>the response nonmonotonic in </a:t>
            </a:r>
            <a:r>
              <a:rPr i="1" lang="en" sz="1600">
                <a:solidFill>
                  <a:schemeClr val="lt1"/>
                </a:solidFill>
              </a:rPr>
              <a:t>g</a:t>
            </a:r>
            <a:r>
              <a:rPr lang="en" sz="1600">
                <a:solidFill>
                  <a:schemeClr val="lt1"/>
                </a:solidFill>
              </a:rPr>
              <a:t>?</a:t>
            </a:r>
            <a:endParaRPr sz="1600">
              <a:solidFill>
                <a:schemeClr val="lt1"/>
              </a:solidFill>
            </a:endParaRPr>
          </a:p>
          <a:p>
            <a:pPr indent="0" lvl="0" marL="0" rtl="0" algn="l">
              <a:lnSpc>
                <a:spcPct val="75000"/>
              </a:lnSpc>
              <a:spcBef>
                <a:spcPts val="0"/>
              </a:spcBef>
              <a:spcAft>
                <a:spcPts val="0"/>
              </a:spcAft>
              <a:buClr>
                <a:schemeClr val="dk1"/>
              </a:buClr>
              <a:buSzPts val="1100"/>
              <a:buFont typeface="Arial"/>
              <a:buNone/>
            </a:pPr>
            <a:r>
              <a:t/>
            </a:r>
            <a:endParaRPr sz="1600">
              <a:solidFill>
                <a:schemeClr val="lt1"/>
              </a:solidFill>
            </a:endParaRPr>
          </a:p>
          <a:p>
            <a:pPr indent="0" lvl="0" marL="0" rtl="0" algn="l">
              <a:lnSpc>
                <a:spcPct val="75000"/>
              </a:lnSpc>
              <a:spcBef>
                <a:spcPts val="0"/>
              </a:spcBef>
              <a:spcAft>
                <a:spcPts val="0"/>
              </a:spcAft>
              <a:buClr>
                <a:schemeClr val="dk1"/>
              </a:buClr>
              <a:buSzPts val="1100"/>
              <a:buFont typeface="Arial"/>
              <a:buNone/>
            </a:pPr>
            <a:r>
              <a:rPr lang="en" sz="1600">
                <a:solidFill>
                  <a:schemeClr val="lt1"/>
                </a:solidFill>
              </a:rPr>
              <a:t>A controlled follow-up sweep then varied </a:t>
            </a:r>
            <a:r>
              <a:rPr i="1" lang="en" sz="1600">
                <a:solidFill>
                  <a:schemeClr val="lt1"/>
                </a:solidFill>
              </a:rPr>
              <a:t>g </a:t>
            </a:r>
            <a:r>
              <a:rPr lang="en" sz="1600">
                <a:solidFill>
                  <a:schemeClr val="lt1"/>
                </a:solidFill>
              </a:rPr>
              <a:t>while holding </a:t>
            </a:r>
            <a:r>
              <a:rPr i="1" lang="en" sz="1600">
                <a:solidFill>
                  <a:schemeClr val="lt1"/>
                </a:solidFill>
              </a:rPr>
              <a:t>d,</a:t>
            </a:r>
            <a:r>
              <a:rPr lang="en" sz="1600">
                <a:solidFill>
                  <a:schemeClr val="lt1"/>
                </a:solidFill>
              </a:rPr>
              <a:t> </a:t>
            </a:r>
            <a:r>
              <a:rPr i="1" lang="en" sz="1600">
                <a:solidFill>
                  <a:schemeClr val="lt1"/>
                </a:solidFill>
              </a:rPr>
              <a:t>a</a:t>
            </a:r>
            <a:r>
              <a:rPr lang="en" sz="1600">
                <a:solidFill>
                  <a:schemeClr val="lt1"/>
                </a:solidFill>
              </a:rPr>
              <a:t>, </a:t>
            </a:r>
            <a:r>
              <a:rPr i="1" lang="en" sz="1600">
                <a:solidFill>
                  <a:schemeClr val="lt1"/>
                </a:solidFill>
              </a:rPr>
              <a:t>s</a:t>
            </a:r>
            <a:r>
              <a:rPr lang="en" sz="1600">
                <a:solidFill>
                  <a:schemeClr val="lt1"/>
                </a:solidFill>
              </a:rPr>
              <a:t>, and </a:t>
            </a:r>
            <a:r>
              <a:rPr i="1" lang="en" sz="1600">
                <a:solidFill>
                  <a:schemeClr val="lt1"/>
                </a:solidFill>
              </a:rPr>
              <a:t>o </a:t>
            </a:r>
            <a:r>
              <a:rPr lang="en" sz="1600">
                <a:solidFill>
                  <a:schemeClr val="lt1"/>
                </a:solidFill>
              </a:rPr>
              <a:t>fixed</a:t>
            </a:r>
            <a:endParaRPr sz="1600">
              <a:solidFill>
                <a:schemeClr val="lt1"/>
              </a:solidFill>
            </a:endParaRPr>
          </a:p>
          <a:p>
            <a:pPr indent="0" lvl="0" marL="0" rtl="0" algn="l">
              <a:lnSpc>
                <a:spcPct val="75000"/>
              </a:lnSpc>
              <a:spcBef>
                <a:spcPts val="0"/>
              </a:spcBef>
              <a:spcAft>
                <a:spcPts val="0"/>
              </a:spcAft>
              <a:buNone/>
            </a:pPr>
            <a:r>
              <a:t/>
            </a:r>
            <a:endParaRPr sz="1600">
              <a:solidFill>
                <a:schemeClr val="lt1"/>
              </a:solidFill>
            </a:endParaRPr>
          </a:p>
          <a:p>
            <a:pPr indent="0" lvl="0" marL="0" rtl="0" algn="l">
              <a:spcBef>
                <a:spcPts val="0"/>
              </a:spcBef>
              <a:spcAft>
                <a:spcPts val="0"/>
              </a:spcAft>
              <a:buNone/>
            </a:pPr>
            <a:r>
              <a:t/>
            </a:r>
            <a:endParaRPr sz="1800">
              <a:solidFill>
                <a:schemeClr val="lt1"/>
              </a:solidFill>
            </a:endParaRPr>
          </a:p>
        </p:txBody>
      </p:sp>
      <p:pic>
        <p:nvPicPr>
          <p:cNvPr id="97" name="Google Shape;97;p18"/>
          <p:cNvPicPr preferRelativeResize="0"/>
          <p:nvPr/>
        </p:nvPicPr>
        <p:blipFill>
          <a:blip r:embed="rId3">
            <a:alphaModFix/>
          </a:blip>
          <a:stretch>
            <a:fillRect/>
          </a:stretch>
        </p:blipFill>
        <p:spPr>
          <a:xfrm>
            <a:off x="1619325" y="761525"/>
            <a:ext cx="5905356" cy="2475900"/>
          </a:xfrm>
          <a:prstGeom prst="rect">
            <a:avLst/>
          </a:prstGeom>
          <a:noFill/>
          <a:ln cap="flat" cmpd="sng" w="19050">
            <a:solidFill>
              <a:schemeClr val="lt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A51C30"/>
        </a:solidFill>
      </p:bgPr>
    </p:bg>
    <p:spTree>
      <p:nvGrpSpPr>
        <p:cNvPr id="101" name="Shape 101"/>
        <p:cNvGrpSpPr/>
        <p:nvPr/>
      </p:nvGrpSpPr>
      <p:grpSpPr>
        <a:xfrm>
          <a:off x="0" y="0"/>
          <a:ext cx="0" cy="0"/>
          <a:chOff x="0" y="0"/>
          <a:chExt cx="0" cy="0"/>
        </a:xfrm>
      </p:grpSpPr>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03" name="Google Shape;103;p19"/>
          <p:cNvSpPr txBox="1"/>
          <p:nvPr/>
        </p:nvSpPr>
        <p:spPr>
          <a:xfrm>
            <a:off x="653825" y="147250"/>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rPr>
              <a:t>SCIENTIFIC DISCOVERY</a:t>
            </a:r>
            <a:endParaRPr b="1" sz="2800">
              <a:solidFill>
                <a:schemeClr val="lt1"/>
              </a:solidFill>
            </a:endParaRPr>
          </a:p>
        </p:txBody>
      </p:sp>
      <p:pic>
        <p:nvPicPr>
          <p:cNvPr id="104" name="Google Shape;104;p19"/>
          <p:cNvPicPr preferRelativeResize="0"/>
          <p:nvPr/>
        </p:nvPicPr>
        <p:blipFill>
          <a:blip r:embed="rId3">
            <a:alphaModFix/>
          </a:blip>
          <a:stretch>
            <a:fillRect/>
          </a:stretch>
        </p:blipFill>
        <p:spPr>
          <a:xfrm>
            <a:off x="1634325" y="699550"/>
            <a:ext cx="5875348" cy="4139150"/>
          </a:xfrm>
          <a:prstGeom prst="rect">
            <a:avLst/>
          </a:prstGeom>
          <a:noFill/>
          <a:ln cap="flat" cmpd="sng" w="19050">
            <a:solidFill>
              <a:schemeClr val="lt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108" name="Shape 108"/>
        <p:cNvGrpSpPr/>
        <p:nvPr/>
      </p:nvGrpSpPr>
      <p:grpSpPr>
        <a:xfrm>
          <a:off x="0" y="0"/>
          <a:ext cx="0" cy="0"/>
          <a:chOff x="0" y="0"/>
          <a:chExt cx="0" cy="0"/>
        </a:xfrm>
      </p:grpSpPr>
      <p:sp>
        <p:nvSpPr>
          <p:cNvPr id="109" name="Google Shape;10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10" name="Google Shape;110;p20"/>
          <p:cNvSpPr txBox="1"/>
          <p:nvPr/>
        </p:nvSpPr>
        <p:spPr>
          <a:xfrm>
            <a:off x="653825" y="147250"/>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lt1"/>
                </a:solidFill>
              </a:rPr>
              <a:t>SCIENTIFIC DISCOVERY</a:t>
            </a:r>
            <a:endParaRPr b="1" sz="2800">
              <a:solidFill>
                <a:schemeClr val="lt1"/>
              </a:solidFill>
            </a:endParaRPr>
          </a:p>
        </p:txBody>
      </p:sp>
      <p:sp>
        <p:nvSpPr>
          <p:cNvPr id="111" name="Google Shape;111;p20"/>
          <p:cNvSpPr txBox="1"/>
          <p:nvPr/>
        </p:nvSpPr>
        <p:spPr>
          <a:xfrm>
            <a:off x="1125600" y="4267500"/>
            <a:ext cx="6892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rPr>
              <a:t>AI did more than </a:t>
            </a:r>
            <a:r>
              <a:rPr lang="en" sz="1800">
                <a:solidFill>
                  <a:schemeClr val="lt1"/>
                </a:solidFill>
              </a:rPr>
              <a:t>identify unstable regimes</a:t>
            </a:r>
            <a:r>
              <a:rPr lang="en" sz="1800">
                <a:solidFill>
                  <a:schemeClr val="lt1"/>
                </a:solidFill>
              </a:rPr>
              <a:t>: it helped reveal a follow-up question to be solved</a:t>
            </a:r>
            <a:endParaRPr sz="1800">
              <a:solidFill>
                <a:schemeClr val="lt1"/>
              </a:solidFill>
            </a:endParaRPr>
          </a:p>
        </p:txBody>
      </p:sp>
      <p:pic>
        <p:nvPicPr>
          <p:cNvPr id="112" name="Google Shape;112;p20" title="output.png"/>
          <p:cNvPicPr preferRelativeResize="0"/>
          <p:nvPr/>
        </p:nvPicPr>
        <p:blipFill>
          <a:blip r:embed="rId3">
            <a:alphaModFix/>
          </a:blip>
          <a:stretch>
            <a:fillRect/>
          </a:stretch>
        </p:blipFill>
        <p:spPr>
          <a:xfrm>
            <a:off x="1452525" y="699550"/>
            <a:ext cx="6221189" cy="3567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116" name="Shape 116"/>
        <p:cNvGrpSpPr/>
        <p:nvPr/>
      </p:nvGrpSpPr>
      <p:grpSpPr>
        <a:xfrm>
          <a:off x="0" y="0"/>
          <a:ext cx="0" cy="0"/>
          <a:chOff x="0" y="0"/>
          <a:chExt cx="0" cy="0"/>
        </a:xfrm>
      </p:grpSpPr>
      <p:grpSp>
        <p:nvGrpSpPr>
          <p:cNvPr id="117" name="Google Shape;117;p21"/>
          <p:cNvGrpSpPr/>
          <p:nvPr/>
        </p:nvGrpSpPr>
        <p:grpSpPr>
          <a:xfrm>
            <a:off x="0" y="-51125"/>
            <a:ext cx="9144000" cy="811800"/>
            <a:chOff x="0" y="-51125"/>
            <a:chExt cx="9144000" cy="811800"/>
          </a:xfrm>
        </p:grpSpPr>
        <p:sp>
          <p:nvSpPr>
            <p:cNvPr id="118" name="Google Shape;118;p21"/>
            <p:cNvSpPr/>
            <p:nvPr/>
          </p:nvSpPr>
          <p:spPr>
            <a:xfrm>
              <a:off x="0" y="-51125"/>
              <a:ext cx="9144000" cy="81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9" name="Google Shape;119;p21" title="image-removebg-preview (5).png"/>
            <p:cNvPicPr preferRelativeResize="0"/>
            <p:nvPr/>
          </p:nvPicPr>
          <p:blipFill>
            <a:blip r:embed="rId3">
              <a:alphaModFix/>
            </a:blip>
            <a:stretch>
              <a:fillRect/>
            </a:stretch>
          </p:blipFill>
          <p:spPr>
            <a:xfrm>
              <a:off x="0" y="-51125"/>
              <a:ext cx="2475693" cy="811800"/>
            </a:xfrm>
            <a:prstGeom prst="rect">
              <a:avLst/>
            </a:prstGeom>
            <a:noFill/>
            <a:ln>
              <a:noFill/>
            </a:ln>
          </p:spPr>
        </p:pic>
      </p:grpSp>
      <p:sp>
        <p:nvSpPr>
          <p:cNvPr id="120" name="Google Shape;12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21" name="Google Shape;121;p21"/>
          <p:cNvSpPr txBox="1"/>
          <p:nvPr/>
        </p:nvSpPr>
        <p:spPr>
          <a:xfrm>
            <a:off x="662700" y="78625"/>
            <a:ext cx="7818600" cy="5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chemeClr val="dk1"/>
                </a:solidFill>
              </a:rPr>
              <a:t>CONCLUSION</a:t>
            </a:r>
            <a:endParaRPr b="1" sz="2800">
              <a:solidFill>
                <a:schemeClr val="dk1"/>
              </a:solidFill>
            </a:endParaRPr>
          </a:p>
        </p:txBody>
      </p:sp>
      <p:sp>
        <p:nvSpPr>
          <p:cNvPr id="122" name="Google Shape;122;p21"/>
          <p:cNvSpPr txBox="1"/>
          <p:nvPr/>
        </p:nvSpPr>
        <p:spPr>
          <a:xfrm>
            <a:off x="662700" y="1036950"/>
            <a:ext cx="7818600" cy="3069600"/>
          </a:xfrm>
          <a:prstGeom prst="rect">
            <a:avLst/>
          </a:prstGeom>
          <a:noFill/>
          <a:ln>
            <a:noFill/>
          </a:ln>
        </p:spPr>
        <p:txBody>
          <a:bodyPr anchorCtr="0" anchor="t" bIns="91425" lIns="91425" spcFirstLastPara="1" rIns="91425" wrap="square" tIns="91425">
            <a:noAutofit/>
          </a:bodyPr>
          <a:lstStyle/>
          <a:p>
            <a:pPr indent="-361950" lvl="0" marL="457200" rtl="0" algn="l">
              <a:lnSpc>
                <a:spcPct val="75000"/>
              </a:lnSpc>
              <a:spcBef>
                <a:spcPts val="0"/>
              </a:spcBef>
              <a:spcAft>
                <a:spcPts val="0"/>
              </a:spcAft>
              <a:buClr>
                <a:schemeClr val="lt1"/>
              </a:buClr>
              <a:buSzPts val="2100"/>
              <a:buAutoNum type="arabicPeriod"/>
            </a:pPr>
            <a:r>
              <a:rPr lang="en" sz="2100">
                <a:solidFill>
                  <a:schemeClr val="lt1"/>
                </a:solidFill>
              </a:rPr>
              <a:t>Within the declared CFD-informed stability analog, adaptive exploration finds the scientifically important unstable class more efficiently than equal-budget space-filling sampling.</a:t>
            </a:r>
            <a:endParaRPr sz="2100">
              <a:solidFill>
                <a:schemeClr val="lt1"/>
              </a:solidFill>
            </a:endParaRPr>
          </a:p>
          <a:p>
            <a:pPr indent="0" lvl="0" marL="457200" rtl="0" algn="l">
              <a:lnSpc>
                <a:spcPct val="75000"/>
              </a:lnSpc>
              <a:spcBef>
                <a:spcPts val="0"/>
              </a:spcBef>
              <a:spcAft>
                <a:spcPts val="0"/>
              </a:spcAft>
              <a:buNone/>
            </a:pPr>
            <a:r>
              <a:t/>
            </a:r>
            <a:endParaRPr sz="2100">
              <a:solidFill>
                <a:schemeClr val="lt1"/>
              </a:solidFill>
            </a:endParaRPr>
          </a:p>
          <a:p>
            <a:pPr indent="-361950" lvl="0" marL="457200" rtl="0" algn="l">
              <a:lnSpc>
                <a:spcPct val="75000"/>
              </a:lnSpc>
              <a:spcBef>
                <a:spcPts val="0"/>
              </a:spcBef>
              <a:spcAft>
                <a:spcPts val="0"/>
              </a:spcAft>
              <a:buClr>
                <a:schemeClr val="lt1"/>
              </a:buClr>
              <a:buSzPts val="2100"/>
              <a:buAutoNum type="arabicPeriod"/>
            </a:pPr>
            <a:r>
              <a:rPr lang="en" sz="2100">
                <a:solidFill>
                  <a:schemeClr val="lt1"/>
                </a:solidFill>
              </a:rPr>
              <a:t>The value of the AI is not only improved rare-regime recovery: unexpected samples can also be converted into targeted scientific follow-up experiments.</a:t>
            </a:r>
            <a:endParaRPr sz="2100">
              <a:solidFill>
                <a:schemeClr val="lt1"/>
              </a:solidFill>
            </a:endParaRPr>
          </a:p>
          <a:p>
            <a:pPr indent="0" lvl="0" marL="457200" rtl="0" algn="l">
              <a:lnSpc>
                <a:spcPct val="75000"/>
              </a:lnSpc>
              <a:spcBef>
                <a:spcPts val="0"/>
              </a:spcBef>
              <a:spcAft>
                <a:spcPts val="0"/>
              </a:spcAft>
              <a:buNone/>
            </a:pPr>
            <a:r>
              <a:t/>
            </a:r>
            <a:endParaRPr sz="2100">
              <a:solidFill>
                <a:schemeClr val="lt1"/>
              </a:solidFill>
            </a:endParaRPr>
          </a:p>
          <a:p>
            <a:pPr indent="-361950" lvl="0" marL="457200" rtl="0" algn="l">
              <a:lnSpc>
                <a:spcPct val="75000"/>
              </a:lnSpc>
              <a:spcBef>
                <a:spcPts val="0"/>
              </a:spcBef>
              <a:spcAft>
                <a:spcPts val="0"/>
              </a:spcAft>
              <a:buClr>
                <a:schemeClr val="lt1"/>
              </a:buClr>
              <a:buSzPts val="2100"/>
              <a:buAutoNum type="arabicPeriod"/>
            </a:pPr>
            <a:r>
              <a:rPr lang="en" sz="2100">
                <a:solidFill>
                  <a:schemeClr val="lt1"/>
                </a:solidFill>
              </a:rPr>
              <a:t>The strongest result is a combination of method and science: AI preferentially recovers rare instability and identifies observations that motivate controlled tests of nonmonotonic structure</a:t>
            </a:r>
            <a:endParaRPr sz="2100">
              <a:solidFill>
                <a:schemeClr val="lt1"/>
              </a:solidFill>
            </a:endParaRPr>
          </a:p>
          <a:p>
            <a:pPr indent="0" lvl="0" marL="0" rtl="0" algn="l">
              <a:lnSpc>
                <a:spcPct val="75000"/>
              </a:lnSpc>
              <a:spcBef>
                <a:spcPts val="0"/>
              </a:spcBef>
              <a:spcAft>
                <a:spcPts val="0"/>
              </a:spcAft>
              <a:buNone/>
            </a:pPr>
            <a:r>
              <a:t/>
            </a:r>
            <a:endParaRPr b="1" sz="19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51C30"/>
        </a:solidFill>
      </p:bgPr>
    </p:bg>
    <p:spTree>
      <p:nvGrpSpPr>
        <p:cNvPr id="126" name="Shape 126"/>
        <p:cNvGrpSpPr/>
        <p:nvPr/>
      </p:nvGrpSpPr>
      <p:grpSpPr>
        <a:xfrm>
          <a:off x="0" y="0"/>
          <a:ext cx="0" cy="0"/>
          <a:chOff x="0" y="0"/>
          <a:chExt cx="0" cy="0"/>
        </a:xfrm>
      </p:grpSpPr>
      <p:sp>
        <p:nvSpPr>
          <p:cNvPr id="127" name="Google Shape;12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grpSp>
        <p:nvGrpSpPr>
          <p:cNvPr id="128" name="Google Shape;128;p22"/>
          <p:cNvGrpSpPr/>
          <p:nvPr/>
        </p:nvGrpSpPr>
        <p:grpSpPr>
          <a:xfrm>
            <a:off x="0" y="-51125"/>
            <a:ext cx="9144000" cy="811800"/>
            <a:chOff x="0" y="-51125"/>
            <a:chExt cx="9144000" cy="811800"/>
          </a:xfrm>
        </p:grpSpPr>
        <p:sp>
          <p:nvSpPr>
            <p:cNvPr id="129" name="Google Shape;129;p22"/>
            <p:cNvSpPr/>
            <p:nvPr/>
          </p:nvSpPr>
          <p:spPr>
            <a:xfrm>
              <a:off x="0" y="-51125"/>
              <a:ext cx="9144000" cy="8118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0" name="Google Shape;130;p22" title="image-removebg-preview (5).png"/>
            <p:cNvPicPr preferRelativeResize="0"/>
            <p:nvPr/>
          </p:nvPicPr>
          <p:blipFill>
            <a:blip r:embed="rId3">
              <a:alphaModFix/>
            </a:blip>
            <a:stretch>
              <a:fillRect/>
            </a:stretch>
          </p:blipFill>
          <p:spPr>
            <a:xfrm>
              <a:off x="0" y="-51125"/>
              <a:ext cx="2475693" cy="811800"/>
            </a:xfrm>
            <a:prstGeom prst="rect">
              <a:avLst/>
            </a:prstGeom>
            <a:noFill/>
            <a:ln>
              <a:noFill/>
            </a:ln>
          </p:spPr>
        </p:pic>
      </p:grpSp>
      <p:sp>
        <p:nvSpPr>
          <p:cNvPr id="131" name="Google Shape;131;p22"/>
          <p:cNvSpPr txBox="1"/>
          <p:nvPr/>
        </p:nvSpPr>
        <p:spPr>
          <a:xfrm>
            <a:off x="1131000" y="1885600"/>
            <a:ext cx="6882000" cy="8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lt1"/>
                </a:solidFill>
              </a:rPr>
              <a:t>THANK YOU</a:t>
            </a:r>
            <a:endParaRPr sz="7200">
              <a:solidFill>
                <a:schemeClr val="lt1"/>
              </a:solidFill>
            </a:endParaRPr>
          </a:p>
        </p:txBody>
      </p:sp>
      <p:sp>
        <p:nvSpPr>
          <p:cNvPr id="132" name="Google Shape;132;p22"/>
          <p:cNvSpPr txBox="1"/>
          <p:nvPr/>
        </p:nvSpPr>
        <p:spPr>
          <a:xfrm>
            <a:off x="1228200" y="3071675"/>
            <a:ext cx="6687600" cy="6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1"/>
                </a:solidFill>
              </a:rPr>
              <a:t>I will now move on to the live demonstration.</a:t>
            </a:r>
            <a:endParaRPr b="1" sz="23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